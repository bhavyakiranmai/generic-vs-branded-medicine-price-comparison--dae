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430" r:id="rId5"/>
    <p:sldId id="460" r:id="rId6"/>
    <p:sldId id="462" r:id="rId7"/>
    <p:sldId id="432" r:id="rId8"/>
    <p:sldId id="433" r:id="rId9"/>
    <p:sldId id="463" r:id="rId10"/>
    <p:sldId id="437" r:id="rId11"/>
    <p:sldId id="464" r:id="rId12"/>
    <p:sldId id="465" r:id="rId13"/>
    <p:sldId id="442" r:id="rId14"/>
    <p:sldId id="443" r:id="rId15"/>
    <p:sldId id="29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051A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7" autoAdjust="0"/>
    <p:restoredTop sz="94849" autoAdjust="0"/>
  </p:normalViewPr>
  <p:slideViewPr>
    <p:cSldViewPr showGuides="1">
      <p:cViewPr varScale="1">
        <p:scale>
          <a:sx n="80" d="100"/>
          <a:sy n="80" d="100"/>
        </p:scale>
        <p:origin x="116" y="60"/>
      </p:cViewPr>
      <p:guideLst>
        <p:guide orient="horz" pos="2160"/>
        <p:guide pos="38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4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</a:fld>
            <a:endParaRPr lang="en-US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DBMS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audio2.wav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audio" Target="../media/audio2.wav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audio" Target="../media/audio2.wav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audio2.wav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2.wav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>
            <p:custDataLst>
              <p:tags r:id="rId1"/>
            </p:custDataLst>
          </p:nvPr>
        </p:nvSpPr>
        <p:spPr>
          <a:xfrm>
            <a:off x="1275715" y="2456815"/>
            <a:ext cx="10164445" cy="9721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US" alt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B3051A"/>
                </a:solidFill>
                <a:effectLst/>
                <a:uLnTx/>
                <a:uFillTx/>
                <a:latin typeface="Copperplate Gothic Bold" panose="020E07050202060204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GENERIC vs BRANDED MEDICINE PRICE COMPARISON ANALYSIS</a:t>
            </a:r>
            <a:endParaRPr kumimoji="0" lang="en-US" altLang="en-IN" sz="3200" b="1" i="0" u="none" strike="noStrike" kern="1200" cap="none" spc="0" normalizeH="0" baseline="0" noProof="0" dirty="0">
              <a:ln>
                <a:noFill/>
              </a:ln>
              <a:solidFill>
                <a:srgbClr val="B3051A"/>
              </a:solidFill>
              <a:effectLst/>
              <a:uLnTx/>
              <a:uFillTx/>
              <a:latin typeface="Copperplate Gothic Bold" panose="020E07050202060204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191098" y="4724762"/>
            <a:ext cx="10358510" cy="141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58820" y="1541145"/>
            <a:ext cx="6751955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000" b="1" dirty="0">
                <a:latin typeface="Copperplate Gothic Bold" panose="020E0705020206020404" pitchFamily="34" charset="0"/>
                <a:cs typeface="Algerian" panose="04020705040A02060702" charset="0"/>
              </a:rPr>
              <a:t> 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ANALYSIS  ESSENTIALS</a:t>
            </a:r>
            <a:endParaRPr lang="en-US" sz="3000" b="1" dirty="0">
              <a:latin typeface="Copperplate Gothic Bold" panose="020E0705020206020404" pitchFamily="34" charset="0"/>
              <a:cs typeface="Algerian" panose="04020705040A02060702" charset="0"/>
            </a:endParaRP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Cornerstone Project</a:t>
            </a:r>
            <a:r>
              <a:rPr lang="en-US" sz="2800" dirty="0">
                <a:latin typeface="Copperplate Gothic Bold" panose="020E0705020206020404" pitchFamily="34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  <a:p>
            <a:pPr algn="ctr"/>
            <a:endParaRPr lang="en-US" sz="2800" dirty="0">
              <a:latin typeface="Copperplate Gothic Bold" panose="020E07050202060204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43885" y="3537585"/>
            <a:ext cx="6372860" cy="31984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/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25B11CS406 -  K. BHAVYA KIRANMAI – TEAM LEAD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25B11CS298 -  G. SRAVANI        -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DATA&amp;TECH LEAD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25B11CS235 -  K. HITESH          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LEAD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25B11CS411 -  K. 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SANTHOSH   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QA &amp;STRATEGY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/>
              <a:t> </a:t>
            </a:r>
            <a:endParaRPr lang="en-IN" dirty="0"/>
          </a:p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ESTEEMED GUDANCE OF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KAKI ASHOK TEJA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PROFRSSOR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&amp;ENGINEERING</a:t>
            </a: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905885" y="594360"/>
            <a:ext cx="4064000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  <p:sndAc>
          <p:stSnd>
            <p:snd r:embed="rId2" name="bomb.wav"/>
          </p:stSnd>
        </p:sndAc>
      </p:transition>
    </mc:Choice>
    <mc:Fallback>
      <p:transition spd="slow">
        <p:fade/>
        <p:sndAc>
          <p:stSnd>
            <p:snd r:embed="rId2" name="bomb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Review 1                                                   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9315" y="1414145"/>
            <a:ext cx="10515600" cy="486918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Medicine prices can vary significantly between branded and potential generic alternatives with the same or comparable active ingredients.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in strength, dosage form, and pack size can make direct medicine price comparison difficult.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groups medicines with comparable active ingredients, strengths, and dosage forms for meaningful comparison.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calculates price differences between comparable medicines.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potential lower-priced alternatives based on the observed medicine prices.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228340" y="973455"/>
            <a:ext cx="7156450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sz="36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600" b="1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  <p:sndAc>
      <p:stSnd>
        <p:snd r:embed="rId1" name="push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  REVIEW 1                                           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48740" y="836295"/>
            <a:ext cx="98183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IN" sz="4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altLang="en-IN"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83640" y="1294765"/>
            <a:ext cx="10083800" cy="5062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/>
          </a:p>
          <a:p>
            <a:pPr marL="285750" indent="-285750" algn="just">
              <a:buFont typeface="Wingdings" panose="05000000000000000000" charset="0"/>
              <a:buChar char="v"/>
            </a:pPr>
            <a:r>
              <a:rPr lang="en-US" altLang="en-US" sz="2400"/>
              <a:t>  To c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lean and standardize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medicine dataset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reliable analysis.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v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To identify comparable medicines based on active ingredient, strength,         	and dosage form.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charset="0"/>
              <a:buChar char="v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To calculate and c</a:t>
            </a:r>
            <a:r>
              <a:rPr lang="en-US" altLang="en-US" sz="2400"/>
              <a:t>ompare price per unit of medicines with different pack 	sizes.</a:t>
            </a:r>
            <a:endParaRPr lang="en-US" altLang="en-US" sz="2400"/>
          </a:p>
          <a:p>
            <a:pPr marL="285750" indent="-285750" algn="just">
              <a:buFont typeface="Wingdings" panose="05000000000000000000" charset="0"/>
              <a:buChar char="v"/>
            </a:pPr>
            <a:endParaRPr lang="en-US" altLang="en-US" sz="2400"/>
          </a:p>
          <a:p>
            <a:pPr marL="285750" indent="-285750" algn="just">
              <a:buFont typeface="Wingdings" panose="05000000000000000000" charset="0"/>
              <a:buChar char="v"/>
            </a:pPr>
            <a:r>
              <a:rPr lang="en-US" altLang="en-US" sz="2400"/>
              <a:t> To identify potential lower-priced generic alternatives and rank them 	using price and ingredient-related factors.</a:t>
            </a:r>
            <a:endParaRPr lang="en-US" altLang="en-US" sz="2400"/>
          </a:p>
          <a:p>
            <a:pPr marL="285750" indent="-285750" algn="just">
              <a:buFont typeface="Wingdings" panose="05000000000000000000" charset="0"/>
              <a:buChar char="v"/>
            </a:pPr>
            <a:endParaRPr lang="en-US" altLang="en-US" sz="2400"/>
          </a:p>
          <a:p>
            <a:pPr marL="285750" indent="-285750" algn="just">
              <a:buFont typeface="Wingdings" panose="05000000000000000000" charset="0"/>
              <a:buChar char="v"/>
            </a:pPr>
            <a:r>
              <a:rPr lang="en-US" altLang="en-US" sz="2400"/>
              <a:t>  To analyze </a:t>
            </a:r>
            <a:r>
              <a:rPr lang="en-US" altLang="en-US" sz="2400" b="1"/>
              <a:t>potential price savings</a:t>
            </a:r>
            <a:r>
              <a:rPr lang="en-US" altLang="en-US" sz="2400"/>
              <a:t> between potential generic and   	branded medicines using tables and visualizations</a:t>
            </a:r>
            <a:r>
              <a:rPr lang="en-US" altLang="en-US" sz="1400"/>
              <a:t>.</a:t>
            </a:r>
            <a:endParaRPr lang="en-US" altLang="en-US" sz="1400"/>
          </a:p>
          <a:p>
            <a:pPr marL="285750" indent="-285750" algn="just">
              <a:buFont typeface="Wingdings" panose="05000000000000000000" charset="0"/>
              <a:buChar char="v"/>
            </a:pPr>
            <a:endParaRPr lang="en-US" altLang="en-US" sz="1400"/>
          </a:p>
        </p:txBody>
      </p:sp>
      <p:sp>
        <p:nvSpPr>
          <p:cNvPr id="14" name="Text Box 13"/>
          <p:cNvSpPr txBox="1"/>
          <p:nvPr/>
        </p:nvSpPr>
        <p:spPr>
          <a:xfrm>
            <a:off x="9086215" y="188595"/>
            <a:ext cx="1978025" cy="1355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u"/>
        <p:sndAc>
          <p:stSnd>
            <p:snd r:embed="rId1" name="push.wav"/>
          </p:stSnd>
        </p:sndAc>
      </p:transition>
    </mc:Choice>
    <mc:Fallback>
      <p:transition spd="slow">
        <p:wipe dir="u"/>
        <p:sndAc>
          <p:stSnd>
            <p:snd r:embed="rId1" name="pu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REVIEW 1                                                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695065" y="735965"/>
            <a:ext cx="5437505" cy="710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4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SET DETAILS</a:t>
            </a:r>
            <a:endParaRPr lang="en-US" sz="44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0590" y="2211070"/>
            <a:ext cx="6350000" cy="4174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 sz="2800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Name  </a:t>
            </a:r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Pharmaceutical  						       products </a:t>
            </a:r>
            <a:r>
              <a:rPr lang="en-US" altLang="en-US" sz="2400">
                <a:solidFill>
                  <a:schemeClr val="tx1"/>
                </a:solidFill>
              </a:rPr>
              <a:t>Dataset </a:t>
            </a:r>
            <a:endParaRPr lang="en-US" altLang="en-US" sz="2400" b="1">
              <a:solidFill>
                <a:schemeClr val="tx1"/>
              </a:solidFill>
            </a:endParaRPr>
          </a:p>
          <a:p>
            <a:pPr algn="l"/>
            <a:endParaRPr lang="en-US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Format  </a:t>
            </a:r>
            <a:r>
              <a:rPr lang="en-US" altLang="en-US" sz="24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en-US" sz="2400"/>
              <a:t>: CSV</a:t>
            </a:r>
            <a:endParaRPr lang="en-US" altLang="en-US" sz="2400"/>
          </a:p>
          <a:p>
            <a:pPr algn="l"/>
            <a:endParaRPr lang="en-US" altLang="en-US" sz="2400"/>
          </a:p>
          <a:p>
            <a:pPr algn="l"/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Number of Rows        </a:t>
            </a:r>
            <a:r>
              <a:rPr lang="en-US" altLang="en-US" sz="2400"/>
              <a:t>:</a:t>
            </a:r>
            <a:r>
              <a:rPr lang="en-US" altLang="en-US" sz="2400" b="1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253,973</a:t>
            </a:r>
            <a:endParaRPr lang="en-US" altLang="en-US" sz="2400"/>
          </a:p>
          <a:p>
            <a:pPr algn="l"/>
            <a:endParaRPr lang="en-US" altLang="en-US" sz="2400"/>
          </a:p>
          <a:p>
            <a:pPr algn="l"/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Number of Columns  </a:t>
            </a:r>
            <a:r>
              <a:rPr lang="en-US" altLang="en-US" sz="2400">
                <a:solidFill>
                  <a:schemeClr val="tx1"/>
                </a:solidFill>
              </a:rPr>
              <a:t>:</a:t>
            </a:r>
            <a:r>
              <a:rPr lang="en-US" altLang="en-US" sz="2400" b="1">
                <a:solidFill>
                  <a:srgbClr val="7030A0"/>
                </a:solidFill>
              </a:rPr>
              <a:t> </a:t>
            </a:r>
            <a:r>
              <a:rPr lang="en-US" alt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15</a:t>
            </a:r>
            <a:endParaRPr lang="en-US" altLang="en-US" sz="2400">
              <a:solidFill>
                <a:srgbClr val="7030A0"/>
              </a:solidFill>
            </a:endParaRPr>
          </a:p>
          <a:p>
            <a:endParaRPr lang="en-US" altLang="en-US" sz="2400"/>
          </a:p>
        </p:txBody>
      </p:sp>
      <p:sp>
        <p:nvSpPr>
          <p:cNvPr id="7" name="Text Box 6"/>
          <p:cNvSpPr txBox="1"/>
          <p:nvPr/>
        </p:nvSpPr>
        <p:spPr>
          <a:xfrm>
            <a:off x="7032625" y="2708275"/>
            <a:ext cx="4197350" cy="306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Attributes</a:t>
            </a:r>
            <a:r>
              <a:rPr lang="en-US" altLang="en-US" sz="24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/>
              <a:t>:</a:t>
            </a:r>
            <a:endParaRPr lang="en-US" altLang="en-US"/>
          </a:p>
          <a:p>
            <a:r>
              <a:rPr lang="en-US" altLang="en-US" sz="2400"/>
              <a:t>Medicine / Brand Name</a:t>
            </a:r>
            <a:endParaRPr lang="en-US" altLang="en-US" sz="2400"/>
          </a:p>
          <a:p>
            <a:r>
              <a:rPr lang="en-US" altLang="en-US" sz="2400"/>
              <a:t>Active Ingredient</a:t>
            </a:r>
            <a:endParaRPr lang="en-US" altLang="en-US" sz="2400"/>
          </a:p>
          <a:p>
            <a:r>
              <a:rPr lang="en-US" altLang="en-US" sz="2400"/>
              <a:t>Strength</a:t>
            </a:r>
            <a:endParaRPr lang="en-US" altLang="en-US" sz="2400"/>
          </a:p>
          <a:p>
            <a:r>
              <a:rPr lang="en-US" altLang="en-US" sz="2400"/>
              <a:t>Dosage Form</a:t>
            </a:r>
            <a:endParaRPr lang="en-US" altLang="en-US" sz="2400"/>
          </a:p>
          <a:p>
            <a:r>
              <a:rPr lang="en-US" altLang="en-US" sz="2400"/>
              <a:t>Pack Size</a:t>
            </a:r>
            <a:endParaRPr lang="en-US" altLang="en-US" sz="2400"/>
          </a:p>
          <a:p>
            <a:r>
              <a:rPr lang="en-US" altLang="en-US" sz="2400"/>
              <a:t>Price</a:t>
            </a:r>
            <a:endParaRPr lang="en-US" altLang="en-US" sz="2400"/>
          </a:p>
          <a:p>
            <a:r>
              <a:rPr lang="en-US" altLang="en-US" sz="2400"/>
              <a:t>Price-per-unit Calculation</a:t>
            </a:r>
            <a:endParaRPr lang="en-US" alt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839470" y="1557020"/>
            <a:ext cx="10492740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>
                <a:latin typeface="Algerian" panose="04020705040A02060702" charset="0"/>
                <a:cs typeface="Algerian" panose="04020705040A02060702" charset="0"/>
              </a:rPr>
              <a:t>KAGGLE LINK:</a:t>
            </a:r>
            <a:r>
              <a:rPr lang="en-US" b="1">
                <a:latin typeface="Algerian" panose="04020705040A02060702" charset="0"/>
                <a:cs typeface="Algerian" panose="04020705040A02060702" charset="0"/>
              </a:rPr>
              <a:t> </a:t>
            </a:r>
            <a:r>
              <a:rPr lang="en-US" sz="2000"/>
              <a:t> </a:t>
            </a:r>
            <a:r>
              <a:rPr lang="en-US" altLang="en-US" sz="2000" b="1">
                <a:solidFill>
                  <a:schemeClr val="accent1">
                    <a:lumMod val="75000"/>
                  </a:schemeClr>
                </a:solidFill>
              </a:rPr>
              <a:t>https://www.kaggle.com/datasets/rishgeeky/indian-pharmaceutical-products</a:t>
            </a:r>
            <a:endParaRPr lang="en-US" altLang="en-US" sz="20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u"/>
        <p:sndAc>
          <p:stSnd>
            <p:snd r:embed="rId1" name="push.wav"/>
          </p:stSnd>
        </p:sndAc>
      </p:transition>
    </mc:Choice>
    <mc:Fallback>
      <p:transition spd="slow">
        <p:wipe dir="u"/>
        <p:sndAc>
          <p:stSnd>
            <p:snd r:embed="rId1" name="pu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  REVIEW 1                                       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82980" y="949960"/>
            <a:ext cx="10561320" cy="851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US" altLang="en-US"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15950" y="2066925"/>
            <a:ext cx="5253355" cy="406463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💻</a:t>
            </a:r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US" altLang="en-US" sz="2800" b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/>
          </a:p>
          <a:p>
            <a:r>
              <a:rPr lang="en-US" altLang="en-US" sz="2400"/>
              <a:t> </a:t>
            </a:r>
            <a:r>
              <a:rPr lang="en-US" altLang="en-US" sz="2400" b="1">
                <a:solidFill>
                  <a:schemeClr val="tx1"/>
                </a:solidFill>
              </a:rPr>
              <a:t>Processor : </a:t>
            </a:r>
            <a:r>
              <a:rPr lang="en-US" altLang="en-US" sz="2400">
                <a:solidFill>
                  <a:schemeClr val="tx1"/>
                </a:solidFill>
              </a:rPr>
              <a:t>AMD Ryzen 5/intel core i3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 </a:t>
            </a:r>
            <a:r>
              <a:rPr lang="en-US" altLang="en-US" sz="2400" b="1">
                <a:solidFill>
                  <a:schemeClr val="tx1"/>
                </a:solidFill>
              </a:rPr>
              <a:t>RAM         :</a:t>
            </a:r>
            <a:r>
              <a:rPr lang="en-US" altLang="en-US" sz="2400">
                <a:solidFill>
                  <a:schemeClr val="tx1"/>
                </a:solidFill>
              </a:rPr>
              <a:t> Minimum 4 GB 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tx1"/>
                </a:solidFill>
              </a:rPr>
              <a:t> Storage    : </a:t>
            </a:r>
            <a:r>
              <a:rPr lang="en-US" altLang="en-US" sz="2400">
                <a:solidFill>
                  <a:schemeClr val="tx1"/>
                </a:solidFill>
              </a:rPr>
              <a:t>Minimum 2 GB free 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 </a:t>
            </a:r>
            <a:r>
              <a:rPr lang="en-US" altLang="en-US" sz="2400" b="1">
                <a:solidFill>
                  <a:schemeClr val="tx1"/>
                </a:solidFill>
              </a:rPr>
              <a:t>Internet   :</a:t>
            </a:r>
            <a:r>
              <a:rPr lang="en-US" altLang="en-US" sz="2400">
                <a:solidFill>
                  <a:schemeClr val="tx1"/>
                </a:solidFill>
              </a:rPr>
              <a:t> Stable Internet</a:t>
            </a:r>
            <a:r>
              <a:rPr lang="en-US" altLang="en-US" sz="2400"/>
              <a:t> </a:t>
            </a:r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6019800" y="2089150"/>
            <a:ext cx="5661025" cy="405765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⚙Software Requirements:</a:t>
            </a:r>
            <a:endParaRPr lang="en-US" altLang="en-US" sz="2800" b="1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tx1"/>
                </a:solidFill>
              </a:rPr>
              <a:t>Operating System :</a:t>
            </a:r>
            <a:r>
              <a:rPr lang="en-US" altLang="en-US" sz="2400">
                <a:solidFill>
                  <a:schemeClr val="tx1"/>
                </a:solidFill>
              </a:rPr>
              <a:t> Windows 10/11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tx1"/>
                </a:solidFill>
              </a:rPr>
              <a:t>Web Browser         :</a:t>
            </a:r>
            <a:r>
              <a:rPr lang="en-US" altLang="en-US" sz="2400">
                <a:solidFill>
                  <a:schemeClr val="tx1"/>
                </a:solidFill>
              </a:rPr>
              <a:t> Chrome/Microsoft       					          Edge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tx1"/>
                </a:solidFill>
              </a:rPr>
              <a:t>Platform                  : </a:t>
            </a:r>
            <a:r>
              <a:rPr lang="en-US" altLang="en-US" sz="2400">
                <a:solidFill>
                  <a:schemeClr val="tx1"/>
                </a:solidFill>
              </a:rPr>
              <a:t>Google colab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tx1"/>
                </a:solidFill>
              </a:rPr>
              <a:t>Google Account     :</a:t>
            </a:r>
            <a:r>
              <a:rPr lang="en-US" altLang="en-US" sz="2400">
                <a:solidFill>
                  <a:schemeClr val="tx1"/>
                </a:solidFill>
              </a:rPr>
              <a:t>To accesss google colab.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u"/>
        <p:sndAc>
          <p:stSnd>
            <p:snd r:embed="rId1" name="push.wav"/>
          </p:stSnd>
        </p:sndAc>
      </p:transition>
    </mc:Choice>
    <mc:Fallback>
      <p:transition spd="slow">
        <p:wipe dir="u"/>
        <p:sndAc>
          <p:stSnd>
            <p:snd r:embed="rId1" name="pu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9625" y="934085"/>
            <a:ext cx="10561320" cy="476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IN" sz="4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1"/>
          <p:cNvSpPr txBox="1"/>
          <p:nvPr/>
        </p:nvSpPr>
        <p:spPr>
          <a:xfrm>
            <a:off x="2567940" y="716915"/>
            <a:ext cx="7419975" cy="8204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IN" sz="4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altLang="en-IN"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REVIEW 1                                                               .</a:t>
            </a:r>
            <a:endParaRPr lang="en-US" dirty="0"/>
          </a:p>
        </p:txBody>
      </p:sp>
      <p:sp>
        <p:nvSpPr>
          <p:cNvPr id="8" name="Text Box 7"/>
          <p:cNvSpPr txBox="1"/>
          <p:nvPr/>
        </p:nvSpPr>
        <p:spPr>
          <a:xfrm>
            <a:off x="2567940" y="1727200"/>
            <a:ext cx="8554720" cy="4608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Google Colab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Pandas, Regular Expressions (re)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Matplotlib, Seaborn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Format: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Documentation: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Markdown (README.md)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599555" y="1647825"/>
            <a:ext cx="5080000" cy="4280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 sz="2400" b="1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  <p:sp>
        <p:nvSpPr>
          <p:cNvPr id="16" name="Text Box 15"/>
          <p:cNvSpPr txBox="1"/>
          <p:nvPr/>
        </p:nvSpPr>
        <p:spPr>
          <a:xfrm>
            <a:off x="6743700" y="332740"/>
            <a:ext cx="4064000" cy="963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u"/>
        <p:sndAc>
          <p:stSnd>
            <p:snd r:embed="rId1" name="push.wav"/>
          </p:stSnd>
        </p:sndAc>
      </p:transition>
    </mc:Choice>
    <mc:Fallback>
      <p:transition spd="slow">
        <p:wipe dir="u"/>
        <p:sndAc>
          <p:stSnd>
            <p:snd r:embed="rId1" name="pu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REVIEW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29970" y="2006600"/>
            <a:ext cx="5453380" cy="4126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🧹 </a:t>
            </a:r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💊 </a:t>
            </a:r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INGREDIENT EXTRACTION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📦 </a:t>
            </a:r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PACK-SIZE NORMALIZATION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 PRICE/UNIT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🔎 </a:t>
            </a:r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US" alt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119120" y="715645"/>
            <a:ext cx="651002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007485" y="764540"/>
            <a:ext cx="7059930" cy="735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4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44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303520" y="2006600"/>
            <a:ext cx="2626995" cy="3825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</a:rPr>
              <a:t>BEFORE</a:t>
            </a:r>
            <a:endParaRPr lang="en-US" altLang="en-US" sz="2800" b="1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en-US"/>
          </a:p>
          <a:p>
            <a:r>
              <a:rPr lang="en-US" altLang="en-US" sz="2400"/>
              <a:t>Raw medicine data</a:t>
            </a:r>
            <a:endParaRPr lang="en-US" altLang="en-US" sz="2400"/>
          </a:p>
          <a:p>
            <a:r>
              <a:rPr lang="en-US" altLang="en-US" sz="2400"/>
              <a:t>↓</a:t>
            </a:r>
            <a:endParaRPr lang="en-US" altLang="en-US" sz="2400"/>
          </a:p>
          <a:p>
            <a:r>
              <a:rPr lang="en-US" altLang="en-US" sz="2400"/>
              <a:t>Different formats</a:t>
            </a:r>
            <a:endParaRPr lang="en-US" altLang="en-US" sz="2400"/>
          </a:p>
          <a:p>
            <a:r>
              <a:rPr lang="en-US" altLang="en-US" sz="2400"/>
              <a:t>↓</a:t>
            </a:r>
            <a:endParaRPr lang="en-US" altLang="en-US" sz="2400"/>
          </a:p>
          <a:p>
            <a:r>
              <a:rPr lang="en-US" altLang="en-US" sz="2400"/>
              <a:t>Different pack sizes</a:t>
            </a:r>
            <a:endParaRPr lang="en-US" altLang="en-US" sz="2400"/>
          </a:p>
          <a:p>
            <a:r>
              <a:rPr lang="en-US" altLang="en-US" sz="2400"/>
              <a:t>↓</a:t>
            </a:r>
            <a:endParaRPr lang="en-US" altLang="en-US" sz="2400"/>
          </a:p>
          <a:p>
            <a:r>
              <a:rPr lang="en-US" altLang="en-US" sz="2400"/>
              <a:t>Difficult comparison</a:t>
            </a:r>
            <a:endParaRPr lang="en-US" altLang="en-US" sz="2400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9" name="Right Arrow 8"/>
          <p:cNvSpPr/>
          <p:nvPr/>
        </p:nvSpPr>
        <p:spPr>
          <a:xfrm>
            <a:off x="8112125" y="3932555"/>
            <a:ext cx="504190" cy="5041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8744585" y="2006600"/>
            <a:ext cx="2486025" cy="3591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endParaRPr lang="en-US" altLang="en-US"/>
          </a:p>
          <a:p>
            <a:r>
              <a:rPr lang="en-US" altLang="en-US" sz="2400"/>
              <a:t>Standardized data</a:t>
            </a:r>
            <a:endParaRPr lang="en-US" altLang="en-US" sz="2400"/>
          </a:p>
          <a:p>
            <a:r>
              <a:rPr lang="en-US" altLang="en-US" sz="2400"/>
              <a:t>↓</a:t>
            </a:r>
            <a:endParaRPr lang="en-US" altLang="en-US" sz="2400"/>
          </a:p>
          <a:p>
            <a:r>
              <a:rPr lang="en-US" altLang="en-US" sz="2400"/>
              <a:t>Comparable medicines</a:t>
            </a:r>
            <a:endParaRPr lang="en-US" altLang="en-US" sz="2400"/>
          </a:p>
          <a:p>
            <a:r>
              <a:rPr lang="en-US" altLang="en-US" sz="2400"/>
              <a:t>↓</a:t>
            </a:r>
            <a:endParaRPr lang="en-US" altLang="en-US" sz="2400"/>
          </a:p>
          <a:p>
            <a:r>
              <a:rPr lang="en-US" altLang="en-US" sz="2400"/>
              <a:t>Price/unit</a:t>
            </a:r>
            <a:endParaRPr lang="en-US" altLang="en-US" sz="2400"/>
          </a:p>
          <a:p>
            <a:r>
              <a:rPr lang="en-US" altLang="en-US" sz="2400"/>
              <a:t>↓</a:t>
            </a:r>
            <a:endParaRPr lang="en-US" altLang="en-US" sz="2400"/>
          </a:p>
          <a:p>
            <a:r>
              <a:rPr lang="en-US" altLang="en-US" sz="2400"/>
              <a:t>Meaningful comparison</a:t>
            </a:r>
            <a:endParaRPr lang="en-US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u"/>
        <p:sndAc>
          <p:stSnd>
            <p:snd r:embed="rId1" name="push.wav"/>
          </p:stSnd>
        </p:sndAc>
      </p:transition>
    </mc:Choice>
    <mc:Fallback>
      <p:transition spd="slow">
        <p:wipe dir="u"/>
        <p:sndAc>
          <p:stSnd>
            <p:snd r:embed="rId1" name="pu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57250" y="908685"/>
            <a:ext cx="10561320" cy="739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IN" sz="4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  <a:endParaRPr lang="en-US" altLang="en-IN"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REVIEW 1                                                            </a:t>
            </a:r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1008380" y="2132965"/>
            <a:ext cx="10651490" cy="4222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287895" y="2011045"/>
            <a:ext cx="4491990" cy="3848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32" name="Picture 31" descr="ChatGPT Image Aug 11, 2026, 10_17_32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55" y="1503680"/>
            <a:ext cx="11015980" cy="5066030"/>
          </a:xfrm>
          <a:prstGeom prst="rect">
            <a:avLst/>
          </a:prstGeom>
        </p:spPr>
      </p:pic>
    </p:spTree>
  </p:cSld>
  <p:clrMapOvr>
    <a:masterClrMapping/>
  </p:clrMapOvr>
  <p:transition spd="slow">
    <p:wipe dir="u"/>
    <p:sndAc>
      <p:stSnd>
        <p:snd r:embed="rId2" name="push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DAE REVIEW 1                                                           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503295" y="822325"/>
            <a:ext cx="6373495" cy="889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4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 VISUALISATIONS</a:t>
            </a:r>
            <a:endParaRPr lang="en-US" sz="44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193790" y="3834130"/>
            <a:ext cx="4164330" cy="1525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343025" y="2390775"/>
            <a:ext cx="2549525" cy="264858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4439285" y="2348865"/>
            <a:ext cx="3795395" cy="2977515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8688070" y="2390775"/>
            <a:ext cx="2834005" cy="3089275"/>
          </a:xfrm>
          <a:prstGeom prst="rect">
            <a:avLst/>
          </a:prstGeom>
        </p:spPr>
      </p:pic>
    </p:spTree>
  </p:cSld>
  <p:clrMapOvr>
    <a:masterClrMapping/>
  </p:clrMapOvr>
  <p:transition spd="slow">
    <p:wipe dir="u"/>
    <p:sndAc>
      <p:stSnd>
        <p:snd r:embed="rId4" name="push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424098" y="6309251"/>
            <a:ext cx="6912768" cy="365125"/>
          </a:xfrm>
        </p:spPr>
        <p:txBody>
          <a:bodyPr/>
          <a:lstStyle/>
          <a:p>
            <a:r>
              <a:rPr lang="en-US" dirty="0"/>
              <a:t>DAE REVIEW 1                                                           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30580" y="1367155"/>
            <a:ext cx="5600700" cy="3380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537335" y="5514340"/>
            <a:ext cx="8335010" cy="488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>
                <a:solidFill>
                  <a:schemeClr val="accent1">
                    <a:lumMod val="75000"/>
                  </a:schemeClr>
                </a:solidFill>
              </a:rPr>
              <a:t>https://colab.research.google.com/drive/1clmeNu17zrfmKnIClhphv4vUFYsfSfpF?usp=sharing</a:t>
            </a:r>
            <a:endParaRPr lang="en-US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480935" y="1245870"/>
            <a:ext cx="4335780" cy="3587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365" y="1337945"/>
            <a:ext cx="4543425" cy="39103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915" y="1334770"/>
            <a:ext cx="4086225" cy="3923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u"/>
        <p:sndAc>
          <p:stSnd>
            <p:snd r:embed="rId3" name="push.wav"/>
          </p:stSnd>
        </p:sndAc>
      </p:transition>
    </mc:Choice>
    <mc:Fallback>
      <p:transition spd="slow">
        <p:wipe dir="u"/>
        <p:sndAc>
          <p:stSnd>
            <p:snd r:embed="rId3" name="push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2588895" y="1002030"/>
            <a:ext cx="7849235" cy="101028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IN" sz="4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altLang="en-IN"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Review 1</a:t>
            </a:r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1055370" y="1796415"/>
            <a:ext cx="9795510" cy="3787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/>
          </a:p>
          <a:p>
            <a:pPr algn="just"/>
            <a:r>
              <a:rPr lang="en-US" altLang="en-US" sz="3200"/>
              <a:t>Develop a user-friendly web/mobile applicationwhere users can search medicines and compare potential lower-priced alternatives.</a:t>
            </a:r>
            <a:endParaRPr lang="en-US" altLang="en-US" sz="3200"/>
          </a:p>
          <a:p>
            <a:pPr algn="just"/>
            <a:endParaRPr lang="en-US" altLang="en-US" sz="3200"/>
          </a:p>
          <a:p>
            <a:pPr algn="just"/>
            <a:endParaRPr lang="en-US" altLang="en-US" sz="3200"/>
          </a:p>
          <a:p>
            <a:pPr algn="just"/>
            <a:r>
              <a:rPr lang="en-US" altLang="en-US" sz="3200"/>
              <a:t>Integrate reliable and updated medicine data to improve price accuracy and validate potential generic candidates.</a:t>
            </a:r>
            <a:endParaRPr lang="en-US" altLang="en-US" sz="3200"/>
          </a:p>
          <a:p>
            <a:pPr algn="just"/>
            <a:endParaRPr lang="en-US" altLang="en-US" sz="3200"/>
          </a:p>
        </p:txBody>
      </p:sp>
      <p:sp>
        <p:nvSpPr>
          <p:cNvPr id="14" name="Text Box 13"/>
          <p:cNvSpPr txBox="1"/>
          <p:nvPr/>
        </p:nvSpPr>
        <p:spPr>
          <a:xfrm>
            <a:off x="7176135" y="2060575"/>
            <a:ext cx="4064000" cy="843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5" name="Picture 14"/>
          <p:cNvPicPr/>
          <p:nvPr/>
        </p:nvPicPr>
        <p:blipFill>
          <a:blip r:embed="rId1"/>
          <a:stretch>
            <a:fillRect/>
          </a:stretch>
        </p:blipFill>
        <p:spPr>
          <a:xfrm>
            <a:off x="7058025" y="3179445"/>
            <a:ext cx="3791585" cy="1330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u"/>
        <p:sndAc>
          <p:stSnd>
            <p:snd r:embed="rId2" name="push.wav"/>
          </p:stSnd>
        </p:sndAc>
      </p:transition>
    </mc:Choice>
    <mc:Fallback>
      <p:transition spd="slow">
        <p:wipe dir="u"/>
        <p:sndAc>
          <p:stSnd>
            <p:snd r:embed="rId2" name="push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6" name="Content Placeholder 1"/>
          <p:cNvSpPr txBox="1"/>
          <p:nvPr/>
        </p:nvSpPr>
        <p:spPr>
          <a:xfrm>
            <a:off x="694690" y="1664335"/>
            <a:ext cx="10690225" cy="4429125"/>
          </a:xfrm>
          <a:prstGeom prst="rect">
            <a:avLst/>
          </a:prstGeom>
        </p:spPr>
        <p:txBody>
          <a:bodyPr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data-driven approach to compare medicine prices based on ingredient, strength, dosage form, pack size, and price per unit.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potential lower-priced generic candidates and analyzed their price differences and potential savings.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Python-based data analysis and visualization can support easier and more meaningful medicine price comparison.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71270" y="730250"/>
            <a:ext cx="10100945" cy="1047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IN" sz="4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IN"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</p:spPr>
        <p:txBody>
          <a:bodyPr/>
          <a:lstStyle/>
          <a:p>
            <a:r>
              <a:rPr lang="en-US" dirty="0"/>
              <a:t>DAE   Review 1                                                            </a:t>
            </a:r>
            <a:endParaRPr lang="en-US" dirty="0"/>
          </a:p>
        </p:txBody>
      </p:sp>
      <p:sp>
        <p:nvSpPr>
          <p:cNvPr id="14" name="Text Box 13"/>
          <p:cNvSpPr txBox="1"/>
          <p:nvPr/>
        </p:nvSpPr>
        <p:spPr>
          <a:xfrm>
            <a:off x="9119870" y="603250"/>
            <a:ext cx="2513330" cy="133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u"/>
        <p:sndAc>
          <p:stSnd>
            <p:snd r:embed="rId1" name="push.wav"/>
          </p:stSnd>
        </p:sndAc>
      </p:transition>
    </mc:Choice>
    <mc:Fallback>
      <p:transition spd="slow">
        <p:wipe dir="u"/>
        <p:sndAc>
          <p:stSnd>
            <p:snd r:embed="rId1" name="push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631315" y="1772920"/>
            <a:ext cx="9215755" cy="2575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endParaRPr lang="en-US" sz="7200" b="1" spc="-50" dirty="0">
              <a:solidFill>
                <a:schemeClr val="accent1">
                  <a:lumMod val="75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77640" y="2708910"/>
            <a:ext cx="43453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Algerian" panose="04020705040A02060702" charset="0"/>
                <a:cs typeface="Algerian" panose="04020705040A02060702" charset="0"/>
              </a:rPr>
              <a:t>T</a:t>
            </a:r>
            <a:r>
              <a:rPr lang="en-US" altLang="en-IN" sz="6000" b="1" dirty="0">
                <a:latin typeface="Algerian" panose="04020705040A02060702" charset="0"/>
                <a:cs typeface="Algerian" panose="04020705040A02060702" charset="0"/>
              </a:rPr>
              <a:t>h</a:t>
            </a:r>
            <a:r>
              <a:rPr lang="en-IN" sz="6000" b="1" dirty="0">
                <a:latin typeface="Algerian" panose="04020705040A02060702" charset="0"/>
                <a:cs typeface="Algerian" panose="04020705040A02060702" charset="0"/>
              </a:rPr>
              <a:t>ANK YOU</a:t>
            </a:r>
            <a:endParaRPr lang="en-IN" sz="6000" b="1" dirty="0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6" name="Minus 5"/>
          <p:cNvSpPr/>
          <p:nvPr/>
        </p:nvSpPr>
        <p:spPr>
          <a:xfrm>
            <a:off x="3682365" y="3860800"/>
            <a:ext cx="5001895" cy="2946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 dir="u"/>
        <p:sndAc>
          <p:stSnd>
            <p:snd r:embed="rId1" name="bomb.wav"/>
          </p:stSnd>
        </p:sndAc>
      </p:transition>
    </mc:Choice>
    <mc:Fallback>
      <p:transition spd="slow">
        <p:push dir="u"/>
        <p:sndAc>
          <p:stSnd>
            <p:snd r:embed="rId1" name="bomb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INDEX" val="4"/>
  <p:tag name="KSO_WM_UNIT_TYPE" val="f"/>
  <p:tag name="KSO_WM_UNIT_SUBTYPE" val="g"/>
  <p:tag name="KSO_WM_BEAUTIFY_FLAG" val="#wm#"/>
  <p:tag name="SLIDEZORDER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4325</Words>
  <Application>WPS Presentation</Application>
  <PresentationFormat>Widescreen</PresentationFormat>
  <Paragraphs>212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SimSun</vt:lpstr>
      <vt:lpstr>Wingdings</vt:lpstr>
      <vt:lpstr>Copperplate Gothic Bold</vt:lpstr>
      <vt:lpstr>Tahoma</vt:lpstr>
      <vt:lpstr>Times New Roman</vt:lpstr>
      <vt:lpstr>Tw Cen MT</vt:lpstr>
      <vt:lpstr>Algerian</vt:lpstr>
      <vt:lpstr>Wingdings</vt:lpstr>
      <vt:lpstr>Maiandra GD</vt:lpstr>
      <vt:lpstr>Showcard Gothic</vt:lpstr>
      <vt:lpstr>Calibri</vt:lpstr>
      <vt:lpstr>Microsoft YaHei</vt:lpstr>
      <vt:lpstr>Arial Unicode MS</vt:lpstr>
      <vt:lpstr>Calibri Light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Bhavya Kiranmai Karri</cp:lastModifiedBy>
  <cp:revision>743</cp:revision>
  <cp:lastPrinted>2023-06-09T04:58:00Z</cp:lastPrinted>
  <dcterms:created xsi:type="dcterms:W3CDTF">2019-12-14T03:50:00Z</dcterms:created>
  <dcterms:modified xsi:type="dcterms:W3CDTF">2026-09-29T00:54:27Z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A2C3F8D7694B469B9D98EF92F9BCCA06_13</vt:lpwstr>
  </property>
  <property fmtid="{D5CDD505-2E9C-101B-9397-08002B2CF9AE}" pid="3" name="KSOProductBuildVer">
    <vt:lpwstr>1033-12.1.0.28485</vt:lpwstr>
  </property>
</Properties>
</file>