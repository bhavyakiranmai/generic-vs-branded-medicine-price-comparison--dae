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2" r:id="rId3"/>
    <p:sldId id="257" r:id="rId4"/>
    <p:sldId id="258" r:id="rId6"/>
    <p:sldId id="259" r:id="rId7"/>
    <p:sldId id="274" r:id="rId8"/>
    <p:sldId id="278" r:id="rId9"/>
    <p:sldId id="275" r:id="rId10"/>
    <p:sldId id="276" r:id="rId11"/>
    <p:sldId id="288" r:id="rId12"/>
    <p:sldId id="277" r:id="rId13"/>
    <p:sldId id="279" r:id="rId14"/>
    <p:sldId id="280" r:id="rId15"/>
    <p:sldId id="281" r:id="rId16"/>
    <p:sldId id="282" r:id="rId17"/>
    <p:sldId id="283" r:id="rId18"/>
    <p:sldId id="273" r:id="rId19"/>
  </p:sldIdLst>
  <p:sldSz cx="14630400" cy="8229600"/>
  <p:notesSz cx="8229600" cy="14630400"/>
  <p:embeddedFontLst>
    <p:embeddedFont>
      <p:font typeface="Algerian" panose="04020705040A02060702" charset="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67" d="100"/>
          <a:sy n="67" d="100"/>
        </p:scale>
        <p:origin x="108" y="60"/>
      </p:cViewPr>
      <p:guideLst>
        <p:guide orient="horz" pos="2592"/>
        <p:guide pos="4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3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2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8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3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27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195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89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3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17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58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3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14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4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2780" indent="0">
              <a:buNone/>
              <a:defRPr sz="2900" b="1"/>
            </a:lvl2pPr>
            <a:lvl3pPr marL="1306195" indent="0">
              <a:buNone/>
              <a:defRPr sz="2600" b="1"/>
            </a:lvl3pPr>
            <a:lvl4pPr marL="1958975" indent="0">
              <a:buNone/>
              <a:defRPr sz="2300" b="1"/>
            </a:lvl4pPr>
            <a:lvl5pPr marL="2612390" indent="0">
              <a:buNone/>
              <a:defRPr sz="2300" b="1"/>
            </a:lvl5pPr>
            <a:lvl6pPr marL="3265170" indent="0">
              <a:buNone/>
              <a:defRPr sz="2300" b="1"/>
            </a:lvl6pPr>
            <a:lvl7pPr marL="3918585" indent="0">
              <a:buNone/>
              <a:defRPr sz="2300" b="1"/>
            </a:lvl7pPr>
            <a:lvl8pPr marL="4571365" indent="0">
              <a:buNone/>
              <a:defRPr sz="2300" b="1"/>
            </a:lvl8pPr>
            <a:lvl9pPr marL="5224145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2780" indent="0">
              <a:buNone/>
              <a:defRPr sz="2900" b="1"/>
            </a:lvl2pPr>
            <a:lvl3pPr marL="1306195" indent="0">
              <a:buNone/>
              <a:defRPr sz="2600" b="1"/>
            </a:lvl3pPr>
            <a:lvl4pPr marL="1958975" indent="0">
              <a:buNone/>
              <a:defRPr sz="2300" b="1"/>
            </a:lvl4pPr>
            <a:lvl5pPr marL="2612390" indent="0">
              <a:buNone/>
              <a:defRPr sz="2300" b="1"/>
            </a:lvl5pPr>
            <a:lvl6pPr marL="3265170" indent="0">
              <a:buNone/>
              <a:defRPr sz="2300" b="1"/>
            </a:lvl6pPr>
            <a:lvl7pPr marL="3918585" indent="0">
              <a:buNone/>
              <a:defRPr sz="2300" b="1"/>
            </a:lvl7pPr>
            <a:lvl8pPr marL="4571365" indent="0">
              <a:buNone/>
              <a:defRPr sz="2300" b="1"/>
            </a:lvl8pPr>
            <a:lvl9pPr marL="5224145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4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4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2780" indent="0">
              <a:buNone/>
              <a:defRPr sz="1700"/>
            </a:lvl2pPr>
            <a:lvl3pPr marL="1306195" indent="0">
              <a:buNone/>
              <a:defRPr sz="1400"/>
            </a:lvl3pPr>
            <a:lvl4pPr marL="1958975" indent="0">
              <a:buNone/>
              <a:defRPr sz="1300"/>
            </a:lvl4pPr>
            <a:lvl5pPr marL="2612390" indent="0">
              <a:buNone/>
              <a:defRPr sz="1300"/>
            </a:lvl5pPr>
            <a:lvl6pPr marL="3265170" indent="0">
              <a:buNone/>
              <a:defRPr sz="1300"/>
            </a:lvl6pPr>
            <a:lvl7pPr marL="3918585" indent="0">
              <a:buNone/>
              <a:defRPr sz="1300"/>
            </a:lvl7pPr>
            <a:lvl8pPr marL="4571365" indent="0">
              <a:buNone/>
              <a:defRPr sz="1300"/>
            </a:lvl8pPr>
            <a:lvl9pPr marL="5224145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2780" indent="0">
              <a:buNone/>
              <a:defRPr sz="4000"/>
            </a:lvl2pPr>
            <a:lvl3pPr marL="1306195" indent="0">
              <a:buNone/>
              <a:defRPr sz="3400"/>
            </a:lvl3pPr>
            <a:lvl4pPr marL="1958975" indent="0">
              <a:buNone/>
              <a:defRPr sz="2900"/>
            </a:lvl4pPr>
            <a:lvl5pPr marL="2612390" indent="0">
              <a:buNone/>
              <a:defRPr sz="2900"/>
            </a:lvl5pPr>
            <a:lvl6pPr marL="3265170" indent="0">
              <a:buNone/>
              <a:defRPr sz="2900"/>
            </a:lvl6pPr>
            <a:lvl7pPr marL="3918585" indent="0">
              <a:buNone/>
              <a:defRPr sz="2900"/>
            </a:lvl7pPr>
            <a:lvl8pPr marL="4571365" indent="0">
              <a:buNone/>
              <a:defRPr sz="2900"/>
            </a:lvl8pPr>
            <a:lvl9pPr marL="5224145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2780" indent="0">
              <a:buNone/>
              <a:defRPr sz="1700"/>
            </a:lvl2pPr>
            <a:lvl3pPr marL="1306195" indent="0">
              <a:buNone/>
              <a:defRPr sz="1400"/>
            </a:lvl3pPr>
            <a:lvl4pPr marL="1958975" indent="0">
              <a:buNone/>
              <a:defRPr sz="1300"/>
            </a:lvl4pPr>
            <a:lvl5pPr marL="2612390" indent="0">
              <a:buNone/>
              <a:defRPr sz="1300"/>
            </a:lvl5pPr>
            <a:lvl6pPr marL="3265170" indent="0">
              <a:buNone/>
              <a:defRPr sz="1300"/>
            </a:lvl6pPr>
            <a:lvl7pPr marL="3918585" indent="0">
              <a:buNone/>
              <a:defRPr sz="1300"/>
            </a:lvl7pPr>
            <a:lvl8pPr marL="4571365" indent="0">
              <a:buNone/>
              <a:defRPr sz="1300"/>
            </a:lvl8pPr>
            <a:lvl9pPr marL="5224145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5" y="396240"/>
            <a:ext cx="15557499" cy="84258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09" tIns="65305" rIns="130609" bIns="65305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09" tIns="65305" rIns="130609" bIns="65305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3"/>
            <a:ext cx="46329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DBMS             B.HEME NAGAMANI, ASST.PROFESSOR, IT&amp;DS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395E6-B557-457B-A658-B1954780A9A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dt="0"/>
  <p:txStyles>
    <p:titleStyle>
      <a:lvl1pPr algn="ctr" defTabSz="1306195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585" indent="-489585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085" indent="-408305" algn="l" defTabSz="1306195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585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365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780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560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4975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7755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170" indent="-326390" algn="l" defTabSz="13061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2780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95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8975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90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585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145" algn="l" defTabSz="13061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14.xml"/><Relationship Id="rId10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60" y="0"/>
            <a:ext cx="9347835" cy="14789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9750" y="1473835"/>
            <a:ext cx="6422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25490" y="2058670"/>
            <a:ext cx="3536950" cy="5829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  <a:endParaRPr lang="en-IN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54630" y="2807335"/>
            <a:ext cx="10036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vs Branded Medicine Price Comparison</a:t>
            </a:r>
            <a:endParaRPr lang="en-IN" sz="3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3530" y="3694430"/>
            <a:ext cx="6698615" cy="326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K.BHAVYA KIRANMAI [25B11CS406]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. SRAVANI  [25B11CS298]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K.HITESH  [25B11CS235]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K.SANTHOSH  [25B11CS411]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/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Mr. K. Ashok Teja, Assistant Professor, CSE Dept.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/>
              <a:t> </a:t>
            </a:r>
            <a:endParaRPr lang="en-US" dirty="0"/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90110" y="6591300"/>
            <a:ext cx="6122035" cy="8121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2825258" y="3164513"/>
            <a:ext cx="6635466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/>
              <a:buChar char="v"/>
            </a:pPr>
            <a:endParaRPr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1248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altLang="en-IN" sz="32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CONTENTS</a:t>
              </a:r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507615" y="1676400"/>
            <a:ext cx="10316845" cy="520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Understanding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Approach &amp; Limitations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Approach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Insights &amp; Analysis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Workflow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12" y="276136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281393" y="-36527"/>
            <a:ext cx="6576695" cy="1473655"/>
            <a:chOff x="2630701" y="47148"/>
            <a:chExt cx="5488261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630701" y="283122"/>
              <a:ext cx="5488261" cy="482791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en-IN" sz="32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ROBLEM UNDERSTANDING</a:t>
              </a:r>
              <a:endParaRPr lang="en-US" altLang="en-I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017395" y="1256030"/>
            <a:ext cx="10923905" cy="5165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  <a:defRPr sz="18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IN" sz="2800" dirty="0">
                <a:solidFill>
                  <a:srgbClr val="222222"/>
                </a:solidFill>
                <a:latin typeface="Times New Roman" panose="02020603050405020304"/>
              </a:rPr>
              <a:t>F</a:t>
            </a:r>
            <a:r>
              <a:rPr lang="en-IN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most patients in India, buying daily medicines is a major out-of-pocket expense. Even though generic drugs share the exact same chemical makeup and clinical effectiveness as branded drugs, people often pay much more simply for a brand name. Our project uses Python to cut through messy pharmaceutical </a:t>
            </a:r>
            <a:r>
              <a:rPr lang="en-IN" sz="28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catalogs</a:t>
            </a:r>
            <a:r>
              <a:rPr lang="en-IN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pairing up identical medicines to show the real difference in price and highlight affordable alternatives.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282700" y="1160780"/>
            <a:ext cx="12298680" cy="6826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Generics provide the identical clinical cure as brands, but at a fraction of the price.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medicine datasets are notoriously messy, with irregular pack counts and incomplete unit records.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python's data analysis stack allows us to systematically clean and group complex drug records.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utilized pandas,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matplotlib,seaborn  to run our entire pipeline end to end.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dashboards make these pricing disparities transparent for doctors, pharmacists, and everyday consumers.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111847" y="-36527"/>
            <a:ext cx="6704965" cy="1473655"/>
            <a:chOff x="2489215" y="47148"/>
            <a:chExt cx="5595303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89215" y="283122"/>
              <a:ext cx="5595303" cy="456973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URRENT/MANUAL APPROACH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553845" y="1093470"/>
            <a:ext cx="11989435" cy="69367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000" dirty="0"/>
              <a:t>•</a:t>
            </a:r>
            <a:r>
              <a:rPr lang="en-US" sz="2800" dirty="0"/>
              <a:t>Medicine pricing information is typically scattered across fragmented pharmacy inventories and PDF lists.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•Manual comparison of active chemical formulations across multiple brands is slow and error-prone.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•Identifying price differences across varying pack sizes (e.g., strips of 10 vs bottles of 30) is difficult by hand.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•Missing dosage strengths and duplicate listings often go unnoticed in manual audits.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•Raw catalog tables are difficult for patients and doctors to interpret without visual summaries.</a:t>
            </a:r>
            <a:endParaRPr lang="en-US" sz="2800" dirty="0"/>
          </a:p>
          <a:p>
            <a:pPr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3842608" y="-36527"/>
            <a:ext cx="6731000" cy="1473655"/>
            <a:chOff x="2264534" y="47148"/>
            <a:chExt cx="5617029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4534" y="283122"/>
              <a:ext cx="5617029" cy="456457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IMITATIONS OF MANUAL ANALYSIS</a:t>
              </a:r>
              <a:endPara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652905" y="1036320"/>
            <a:ext cx="11488420" cy="6961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•Manual price auditing across thousands of medicines is time-consuming and doesn't scale.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•Complex chemical formulations and varying salts cannot be matched efficiently without automation.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•Calculating unit-level cost savings across non-standard packaging is hard to visualize manually.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•Identifying extreme pricing outliers and market monopolies is difficult without statistical tools.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•Manual analysis increases human error, preventing patients from accessing affordable alternatives.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APPROACH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054100" y="1033780"/>
            <a:ext cx="12675870" cy="692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Dataset Loading &amp; Exploration – Load and inspect Indian pharmaceutical records.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Data Cleaning – Handle missing values, normalize text, remove duplicates .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Medicine Classification – Identify potential generic-name medicines by matching cleaned medicine names with primary ingredients.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Comparable Grouping – Group medicines by active ingredient, strength and dosage form.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Price Analysis – Compare potential generic-name prices with average prices of comparable medicines and calculate price differences.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Visualization &amp; Results – Present findings using charts and highlight top observed lower-price cases.</a:t>
            </a:r>
            <a:endParaRPr lang="en-US" altLang="en-US" sz="2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endParaRPr lang="en-US" altLang="en-US" sz="2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DESCRIPTION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702804" y="1239878"/>
            <a:ext cx="7315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05050"/>
                </a:solidFill>
                <a:latin typeface="Times New Roman" panose="02020603050405020304"/>
              </a:defRPr>
            </a:pPr>
            <a:r>
              <a:rPr lang="en-US" sz="2400" b="1" dirty="0">
                <a:solidFill>
                  <a:schemeClr val="tx2"/>
                </a:solidFill>
              </a:rPr>
              <a:t>Indian Pharmaceutical Products dataset used for this project — key clinical and pricing fields</a:t>
            </a:r>
            <a:endParaRPr 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71248" y="2280284"/>
          <a:ext cx="5343952" cy="374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464"/>
                <a:gridCol w="3687488"/>
              </a:tblGrid>
              <a:tr h="5178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</a:tr>
              <a:tr h="5178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 err="1"/>
                        <a:t>brand_name</a:t>
                      </a:r>
                      <a:endParaRPr sz="1800" dirty="0" err="1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/>
                        <a:t>Commercial market trade name of the medicine</a:t>
                      </a:r>
                      <a:endParaRPr sz="180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178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 err="1"/>
                        <a:t>primary_ingredient</a:t>
                      </a:r>
                      <a:endParaRPr sz="1800" dirty="0" err="1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/>
                        <a:t>Active pharmaceutical ingredient / chemical molecule</a:t>
                      </a:r>
                      <a:endParaRPr sz="1800"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  <a:tr h="5178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/>
                        <a:t>primary_strength</a:t>
                      </a:r>
                      <a:endParaRPr sz="180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/>
                        <a:t>Dosage potency and concentration (e.g., 500 mg, 10 mg)</a:t>
                      </a:r>
                      <a:endParaRPr sz="1800"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178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/>
                        <a:t>dosage_form</a:t>
                      </a:r>
                      <a:endParaRPr sz="180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/>
                        <a:t>Formulation delivery type (tablet, capsule, syrup, injection)</a:t>
                      </a:r>
                      <a:endParaRPr sz="1800"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  <a:tr h="5178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/>
                        <a:t>pack_size / pack_unit</a:t>
                      </a:r>
                      <a:endParaRPr sz="180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/>
                        <a:t>Packaging quantity and dispensing container unit</a:t>
                      </a:r>
                      <a:endParaRPr sz="1800"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178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/>
                        <a:t>price_inr</a:t>
                      </a:r>
                      <a:endParaRPr sz="180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Times New Roman" panose="02020603050405020304"/>
                        </a:defRPr>
                      </a:pPr>
                      <a:r>
                        <a:rPr sz="1800" dirty="0"/>
                        <a:t>Maximum retail selling price in Indian Rupees (INR)</a:t>
                      </a:r>
                      <a:endParaRPr sz="1800"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877810" y="2358390"/>
            <a:ext cx="4526280" cy="1117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sz="1400" dirty="0"/>
              <a:t>Dataset Snapshot</a:t>
            </a:r>
            <a:endParaRPr sz="1400" dirty="0"/>
          </a:p>
          <a:p>
            <a:pPr>
              <a:defRPr sz="12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sz="1400" dirty="0"/>
              <a:t>200,000+ medicine records  |  15+ pharmaceutical attributes</a:t>
            </a:r>
            <a:endParaRPr sz="1400" dirty="0"/>
          </a:p>
        </p:txBody>
      </p:sp>
      <p:sp>
        <p:nvSpPr>
          <p:cNvPr id="23" name="Rounded Rectangle 21"/>
          <p:cNvSpPr/>
          <p:nvPr/>
        </p:nvSpPr>
        <p:spPr>
          <a:xfrm>
            <a:off x="7877810" y="3798570"/>
            <a:ext cx="4526280" cy="1095375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sz="1400" dirty="0"/>
              <a:t>Data Quality Checks</a:t>
            </a:r>
            <a:endParaRPr sz="1400" dirty="0"/>
          </a:p>
          <a:p>
            <a:pPr>
              <a:defRPr sz="12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sz="1400" dirty="0"/>
              <a:t>Invalid prices (&lt;= 0) pruned • Whitespace stripped • Lowercase normalized</a:t>
            </a:r>
            <a:endParaRPr sz="1400" dirty="0"/>
          </a:p>
        </p:txBody>
      </p:sp>
      <p:sp>
        <p:nvSpPr>
          <p:cNvPr id="25" name="Rounded Rectangle 22"/>
          <p:cNvSpPr/>
          <p:nvPr/>
        </p:nvSpPr>
        <p:spPr>
          <a:xfrm>
            <a:off x="7877810" y="5205730"/>
            <a:ext cx="4526280" cy="1117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sz="1400" dirty="0"/>
              <a:t>Tools &amp; Libraries</a:t>
            </a:r>
            <a:endParaRPr sz="1400" dirty="0"/>
          </a:p>
          <a:p>
            <a:pPr>
              <a:defRPr sz="12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sz="1400" dirty="0"/>
              <a:t>Python • Pandas • NumPy • Matplotlib • Seaborn • Google </a:t>
            </a:r>
            <a:r>
              <a:rPr sz="1400" dirty="0" err="1"/>
              <a:t>Colab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38200" y="765810"/>
            <a:ext cx="12675870" cy="7463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None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b="1" dirty="0">
                <a:solidFill>
                  <a:schemeClr val="tx2">
                    <a:lumMod val="75000"/>
                  </a:schemeClr>
                </a:solidFill>
              </a:rPr>
              <a:t>    Hardware Requirements:</a:t>
            </a:r>
            <a:endParaRPr lang="en-US" alt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Processor: Intel i3 or above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RAM: Minimum 4 GB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Storage: 20 GB</a:t>
            </a:r>
            <a:endParaRPr lang="en-US" altLang="en-US" sz="2800" dirty="0"/>
          </a:p>
          <a:p>
            <a:pPr indent="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None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b="1" dirty="0">
                <a:solidFill>
                  <a:schemeClr val="tx2">
                    <a:lumMod val="75000"/>
                  </a:schemeClr>
                </a:solidFill>
              </a:rPr>
              <a:t>    Software Requirements:</a:t>
            </a:r>
            <a:endParaRPr lang="en-US" alt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Operating System: Windows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Programming Language: Python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Development Environment: Google Colab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Data Processing: Pandas, NumPy</a:t>
            </a:r>
            <a:endParaRPr lang="en-US" altLang="en-US" sz="2800" dirty="0"/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altLang="en-US" sz="2800" dirty="0"/>
              <a:t>Data Visualization: Matplotlib, Seaborn</a:t>
            </a:r>
            <a:endParaRPr lang="en-US" altLang="en-US" sz="2800" dirty="0"/>
          </a:p>
          <a:p>
            <a:pPr indent="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None/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>
                <a:spcAft>
                  <a:spcPts val="700"/>
                </a:spcAft>
                <a:defRPr sz="2200" b="1">
                  <a:solidFill>
                    <a:srgbClr val="233464"/>
                  </a:solidFill>
                  <a:latin typeface="Aptos"/>
                </a:defRPr>
              </a:pPr>
              <a:r>
                <a:rPr lang="en-IN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317875" y="1098550"/>
            <a:ext cx="8282305" cy="1457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IN" sz="2400" dirty="0">
                <a:solidFill>
                  <a:schemeClr val="tx1"/>
                </a:solidFill>
              </a:rPr>
              <a:t>Module 1 – Data Ingestion</a:t>
            </a:r>
            <a:endParaRPr lang="en-IN" sz="2400" dirty="0">
              <a:solidFill>
                <a:schemeClr val="tx1"/>
              </a:solidFill>
            </a:endParaRPr>
          </a:p>
          <a:p>
            <a:pPr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IN" sz="2400" dirty="0"/>
              <a:t>Import Pandas, NumPy, Matplotlib, and Seaborn.</a:t>
            </a:r>
            <a:endParaRPr lang="en-IN" sz="2400" dirty="0"/>
          </a:p>
          <a:p>
            <a:pPr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IN" sz="2400" dirty="0"/>
              <a:t>Load Indian pharmaceutical CSV dataset into </a:t>
            </a:r>
            <a:r>
              <a:rPr lang="en-IN" sz="2400" dirty="0" err="1"/>
              <a:t>DataFrame</a:t>
            </a:r>
            <a:endParaRPr lang="en-IN" sz="2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5" y="2291715"/>
            <a:ext cx="651510" cy="66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77590" y="2943860"/>
            <a:ext cx="7378065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       Module 2 – Data Exploration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Inspect dataset shape, column schema, and data types.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Examine missing value counts and evaluate completeness</a:t>
            </a:r>
            <a:endParaRPr lang="en-IN" sz="24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355" y="4114800"/>
            <a:ext cx="723900" cy="6419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78225" y="4780915"/>
            <a:ext cx="7377430" cy="1449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Module 3 – Data Cleaning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Drop duplicate records and filter invalid prices (price &lt;=0)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Strip whitespaces and remove non-recoverable rows</a:t>
            </a:r>
            <a:r>
              <a:rPr lang="en-US" sz="1400" dirty="0"/>
              <a:t>.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3556635" y="6573520"/>
            <a:ext cx="7693025" cy="1398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Module 4 – Generic Identification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Normalize text casing for brand names and ingredients.</a:t>
            </a:r>
            <a:endParaRPr lang="en-US" sz="2400" dirty="0"/>
          </a:p>
          <a:p>
            <a:pPr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Classify Potential Generic vs Branded using </a:t>
            </a:r>
            <a:r>
              <a:rPr lang="en-US" altLang="en-US" sz="2400" dirty="0">
                <a:sym typeface="+mn-ea"/>
              </a:rPr>
              <a:t> primary ingredients.</a:t>
            </a:r>
            <a:endParaRPr lang="en-US" altLang="en-US" sz="2400" dirty="0"/>
          </a:p>
          <a:p>
            <a:pPr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endParaRPr lang="en-IN" sz="24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0" y="6016625"/>
            <a:ext cx="723900" cy="5321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30164" y="-118604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257550" y="996315"/>
            <a:ext cx="779081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      Module 5 – Composition Grouping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Create composite key: ingredient + strength + form + pack.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Filter groups having both generic and branded products</a:t>
            </a:r>
            <a:endParaRPr lang="en-IN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625215" y="2684780"/>
            <a:ext cx="7475220" cy="1052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/>
              <a:t>  </a:t>
            </a:r>
            <a:r>
              <a:rPr lang="en-US" sz="2400" dirty="0">
                <a:solidFill>
                  <a:schemeClr val="tx1"/>
                </a:solidFill>
              </a:rPr>
              <a:t> Module 6 – Price Difference Analysis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Unstack group-level average prices for both medicine types.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Calculate absolute difference and percentage savings.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609340" y="4355465"/>
            <a:ext cx="7729855" cy="1263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Module 7 – Data Visualization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Plot price distribution box plots and ingredient frequencies.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Generate pie charts of price comparison outcomes.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609340" y="6235700"/>
            <a:ext cx="7727950" cy="1362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  <a:defRPr sz="15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2400" dirty="0">
                <a:solidFill>
                  <a:schemeClr val="tx1"/>
                </a:solidFill>
              </a:rPr>
              <a:t>Module 8 – Insights &amp; Ranking</a:t>
            </a:r>
            <a:endParaRPr lang="en-US" sz="2400" dirty="0">
              <a:solidFill>
                <a:schemeClr val="tx1"/>
              </a:solidFill>
            </a:endParaRPr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Rank formulations with the highest potential savings.</a:t>
            </a:r>
            <a:endParaRPr lang="en-US" sz="2400" dirty="0"/>
          </a:p>
          <a:p>
            <a:pPr lvl="0" algn="ctr">
              <a:defRPr sz="1300" b="0">
                <a:solidFill>
                  <a:srgbClr val="323232"/>
                </a:solidFill>
                <a:latin typeface="Times New Roman" panose="02020603050405020304"/>
              </a:defRPr>
            </a:pPr>
            <a:r>
              <a:rPr lang="en-US" sz="2400" dirty="0"/>
              <a:t>Export final cleaned and comparison datasets to CSV</a:t>
            </a:r>
            <a:endParaRPr lang="en-IN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355" y="2143760"/>
            <a:ext cx="723900" cy="5105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289" y="3847861"/>
            <a:ext cx="723900" cy="50958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355" y="5551170"/>
            <a:ext cx="723900" cy="58864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662160" y="242189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0653395" y="216408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ATA VISUALISATION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2495" y="1115060"/>
            <a:ext cx="12236450" cy="584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05050"/>
                </a:solidFill>
                <a:latin typeface="Times New Roman" panose="02020603050405020304"/>
              </a:defRPr>
            </a:pPr>
            <a:r>
              <a:rPr lang="en-US" sz="2000" i="1" dirty="0"/>
              <a:t>Key comparative charts generated directly from our pharmaceutical analysis pipeline</a:t>
            </a:r>
            <a:endParaRPr lang="en-US" sz="2000" i="1" dirty="0"/>
          </a:p>
        </p:txBody>
      </p:sp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1252855" y="1896745"/>
            <a:ext cx="3332480" cy="266319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6"/>
          <a:stretch>
            <a:fillRect/>
          </a:stretch>
        </p:blipFill>
        <p:spPr>
          <a:xfrm>
            <a:off x="9342120" y="1905635"/>
            <a:ext cx="3806825" cy="291211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7"/>
          <a:stretch>
            <a:fillRect/>
          </a:stretch>
        </p:blipFill>
        <p:spPr>
          <a:xfrm>
            <a:off x="1304290" y="4868545"/>
            <a:ext cx="3281045" cy="258699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8"/>
          <a:stretch>
            <a:fillRect/>
          </a:stretch>
        </p:blipFill>
        <p:spPr>
          <a:xfrm>
            <a:off x="9081770" y="5022850"/>
            <a:ext cx="4266565" cy="2531745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9"/>
          <a:stretch>
            <a:fillRect/>
          </a:stretch>
        </p:blipFill>
        <p:spPr>
          <a:xfrm>
            <a:off x="4876800" y="3230880"/>
            <a:ext cx="4090035" cy="2912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027393" y="-36527"/>
            <a:ext cx="6673215" cy="1473655"/>
            <a:chOff x="2418738" y="47148"/>
            <a:chExt cx="5568807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18738" y="283122"/>
              <a:ext cx="5568807" cy="431672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EY INSIGHT AND ANALYSIS</a:t>
              </a:r>
              <a:endParaRPr lang="en-US" alt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787525" y="1106170"/>
            <a:ext cx="11480165" cy="6818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000" dirty="0"/>
              <a:t>• </a:t>
            </a:r>
            <a:r>
              <a:rPr lang="en-US" sz="2800" dirty="0"/>
              <a:t>Potential Generic medicines were cheaper in over 80% of directly comparable formulation groups.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•The average price of branded medicines was substantially higher than identical generic equivalents.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•Chronic ailment formulations (antibiotics, cardiac, and antidiabetic drugs) showed the highest price gaps.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•Price box plots show wide dispersion and extreme upper outliers among branded pharmaceuticals.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•Automated composition grouping successfully isolated bioequivalent alternatives across multiple manufacturers.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700" b="0">
                <a:solidFill>
                  <a:srgbClr val="222222"/>
                </a:solidFill>
                <a:latin typeface="Times New Roman" panose="02020603050405020304"/>
              </a:defRPr>
            </a:pP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3591784" y="-36527"/>
            <a:ext cx="8039100" cy="1473655"/>
            <a:chOff x="2055221" y="47148"/>
            <a:chExt cx="6708640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55221" y="283122"/>
              <a:ext cx="6708640" cy="483824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MPLEMENTATION WORKFLOW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114675" y="1243330"/>
            <a:ext cx="9086215" cy="779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Times New Roman" panose="02020603050405020304"/>
              </a:defRPr>
            </a:pPr>
            <a:r>
              <a:rPr lang="en-US" sz="2000" dirty="0"/>
              <a:t>From raw pharmaceutical data to actionable pricing insights — automated 6-stage pipeline</a:t>
            </a:r>
            <a:endParaRPr lang="en-US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923" y="2509837"/>
            <a:ext cx="3295650" cy="9810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8414" y="2509837"/>
            <a:ext cx="3295650" cy="9810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1905" y="2509836"/>
            <a:ext cx="3295650" cy="981075"/>
          </a:xfrm>
          <a:prstGeom prst="rect">
            <a:avLst/>
          </a:prstGeom>
        </p:spPr>
      </p:pic>
      <p:sp>
        <p:nvSpPr>
          <p:cNvPr id="19" name="Down Arrow 19"/>
          <p:cNvSpPr/>
          <p:nvPr/>
        </p:nvSpPr>
        <p:spPr>
          <a:xfrm>
            <a:off x="6946199" y="3652837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123" y="4434840"/>
            <a:ext cx="3295650" cy="9810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8414" y="4454842"/>
            <a:ext cx="3295650" cy="9810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1905" y="4454842"/>
            <a:ext cx="3295650" cy="981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46639" y="6014550"/>
            <a:ext cx="8839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864"/>
                </a:solidFill>
                <a:latin typeface="Times New Roman" panose="02020603050405020304"/>
              </a:defRPr>
            </a:pPr>
            <a:r>
              <a:rPr lang="en-US" sz="1600" dirty="0"/>
              <a:t>Output: Cleaned dataset → Matching groups → Comparative charts → Actionable savings report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4302348" y="-36527"/>
            <a:ext cx="6116112" cy="1473655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015490" y="1205230"/>
            <a:ext cx="10794365" cy="6172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000" dirty="0"/>
              <a:t>•</a:t>
            </a:r>
            <a:r>
              <a:rPr lang="en-US" sz="2800" dirty="0"/>
              <a:t> Successfully developed an end-to-end Python exploratory data analysis pipeline for pharmaceutical price comparison.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 Automated text cleaning and composite grouping effectively resolved discrepancies in large, messy drug catalogs.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 Empirically validated that potential generic medicines offer identical clinical utility at significantly reduced costs.</a:t>
            </a:r>
            <a:endParaRPr lang="en-US" sz="2800" dirty="0"/>
          </a:p>
          <a:p>
            <a:pPr algn="just">
              <a:lnSpc>
                <a:spcPct val="150000"/>
              </a:lnSpc>
              <a:spcAft>
                <a:spcPts val="800"/>
              </a:spcAft>
              <a:defRPr sz="1600" b="0">
                <a:solidFill>
                  <a:srgbClr val="222222"/>
                </a:solidFill>
                <a:latin typeface="Times New Roman" panose="02020603050405020304"/>
              </a:defRPr>
            </a:pPr>
            <a:r>
              <a:rPr lang="en-US" sz="2800" dirty="0"/>
              <a:t>• Data visualizations clearly present the magnitude of price variations across common pharmaceutical classes.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538537" y="6733401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B42814"/>
                </a:solidFill>
                <a:latin typeface="Times New Roman" panose="02020603050405020304"/>
              </a:defRPr>
            </a:pPr>
            <a:r>
              <a:rPr lang="en-US" dirty="0"/>
              <a:t>Future Scope: Apply pipeline to live pharmacy APIs, integrate regional pricing, and build a generic drug recommendation web portal.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5900" y="3156287"/>
            <a:ext cx="468503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b="1" dirty="0">
                <a:latin typeface="Algerian" panose="04020705040A02060702" charset="0"/>
                <a:cs typeface="Algerian" panose="04020705040A02060702" charset="0"/>
              </a:rPr>
              <a:t>Thank you</a:t>
            </a:r>
            <a:endParaRPr lang="en-IN" sz="6600" b="1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4" name="Minus 3"/>
          <p:cNvSpPr/>
          <p:nvPr/>
        </p:nvSpPr>
        <p:spPr>
          <a:xfrm>
            <a:off x="3797300" y="4685665"/>
            <a:ext cx="8028305" cy="76200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6775</Words>
  <Application>WPS Presentation</Application>
  <PresentationFormat>Custom</PresentationFormat>
  <Paragraphs>206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Wingdings</vt:lpstr>
      <vt:lpstr>Aptos</vt:lpstr>
      <vt:lpstr>Segoe UI</vt:lpstr>
      <vt:lpstr>Times New Roman</vt:lpstr>
      <vt:lpstr>Algerian</vt:lpstr>
      <vt:lpstr>Calibri</vt:lpstr>
      <vt:lpstr>Arial Unicode MS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 Siva Ramakrishna</dc:creator>
  <cp:lastModifiedBy>Bhavya Kiranmai Karri</cp:lastModifiedBy>
  <cp:revision>547</cp:revision>
  <dcterms:created xsi:type="dcterms:W3CDTF">2025-06-30T14:22:00Z</dcterms:created>
  <dcterms:modified xsi:type="dcterms:W3CDTF">2026-09-29T05:29:18Z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880E1E8FA17045FCAE1778A3A485A631_13</vt:lpwstr>
  </property>
  <property fmtid="{D5CDD505-2E9C-101B-9397-08002B2CF9AE}" pid="3" name="KSOProductBuildVer">
    <vt:lpwstr>1033-12.1.0.28485</vt:lpwstr>
  </property>
</Properties>
</file>